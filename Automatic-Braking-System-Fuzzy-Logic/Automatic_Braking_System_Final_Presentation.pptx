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D31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B2D31"/>
                </a:solidFill>
                <a:latin typeface="+mn-lt"/>
              </a:rPr>
              <a:t>Braking output per test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Braking %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T01</c:v>
                  </c:pt>
                  <c:pt idx="1">
                    <c:v>T02</c:v>
                  </c:pt>
                  <c:pt idx="2">
                    <c:v>T03</c:v>
                  </c:pt>
                  <c:pt idx="3">
                    <c:v>T04</c:v>
                  </c:pt>
                  <c:pt idx="4">
                    <c:v>T05</c:v>
                  </c:pt>
                  <c:pt idx="5">
                    <c:v>T06</c:v>
                  </c:pt>
                  <c:pt idx="6">
                    <c:v>T07</c:v>
                  </c:pt>
                  <c:pt idx="7">
                    <c:v>T08</c:v>
                  </c:pt>
                  <c:pt idx="8">
                    <c:v>T09</c:v>
                  </c:pt>
                  <c:pt idx="9">
                    <c:v>T10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84.4</c:v>
                </c:pt>
                <c:pt idx="1">
                  <c:v>84.4</c:v>
                </c:pt>
                <c:pt idx="2">
                  <c:v>44.5</c:v>
                </c:pt>
                <c:pt idx="3">
                  <c:v>62.4</c:v>
                </c:pt>
                <c:pt idx="4">
                  <c:v>15.6</c:v>
                </c:pt>
                <c:pt idx="5">
                  <c:v>50</c:v>
                </c:pt>
                <c:pt idx="6">
                  <c:v>84.4</c:v>
                </c:pt>
                <c:pt idx="7">
                  <c:v>16.3</c:v>
                </c:pt>
                <c:pt idx="8">
                  <c:v>16.3</c:v>
                </c:pt>
                <c:pt idx="9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D3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9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2D3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project, team, and subject. Educational software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Logic-Based Automatic Braking System  |  BE05000461  |  LDCE – GTU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2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GTU  |  PROBLEM-BASED LEARNING (PBL)  |  FINAL PRESENTATION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Development of a Fuzzy Logic-Based Automatic Braking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2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Fuzzy Inference System in Python (scikit-fuzzy)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and Genetic Programming (BE05000461)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Engineering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L.D. College of Engineering (LDCE), Ahmedabad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</a:t>
            </a:r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Technological University (GTU)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Kantibhai Prajapati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(Enrollment No: 250283102033)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 Sanjaybhai Parmar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(Enrollment No: 250283102028)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[Name]   |   Academic Year: [Academic Year]   |   Date: [Date]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097280"/>
            <a:ext cx="3749040" cy="3931920"/>
          </a:xfrm>
          <a:prstGeom prst="roundRect">
            <a:avLst>
              <a:gd name="adj" fmla="val 1951"/>
            </a:avLst>
          </a:prstGeom>
          <a:solidFill>
            <a:srgbClr val="3A3D44"/>
          </a:solidFill>
          <a:ln w="12700">
            <a:solidFill>
              <a:srgbClr val="3A3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26060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2377440"/>
            <a:ext cx="731520" cy="320040"/>
          </a:xfrm>
          <a:prstGeom prst="roundRect">
            <a:avLst>
              <a:gd name="adj" fmla="val 28571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2926080"/>
            <a:ext cx="256032" cy="256032"/>
          </a:xfrm>
          <a:prstGeom prst="ellipse">
            <a:avLst/>
          </a:prstGeom>
          <a:solidFill>
            <a:srgbClr val="1F2023"/>
          </a:solidFill>
          <a:ln w="19050">
            <a:solidFill>
              <a:srgbClr val="B8BD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926080"/>
            <a:ext cx="256032" cy="256032"/>
          </a:xfrm>
          <a:prstGeom prst="ellipse">
            <a:avLst/>
          </a:prstGeom>
          <a:solidFill>
            <a:srgbClr val="1F2023"/>
          </a:solidFill>
          <a:ln w="19050">
            <a:solidFill>
              <a:srgbClr val="B8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26060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 w="12700">
            <a:solidFill>
              <a:srgbClr val="8A90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2377440"/>
            <a:ext cx="731520" cy="320040"/>
          </a:xfrm>
          <a:prstGeom prst="roundRect">
            <a:avLst>
              <a:gd name="adj" fmla="val 28571"/>
            </a:avLst>
          </a:prstGeom>
          <a:solidFill>
            <a:srgbClr val="8A9099"/>
          </a:solidFill>
          <a:ln w="12700">
            <a:solidFill>
              <a:srgbClr val="8A90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2926080"/>
            <a:ext cx="256032" cy="256032"/>
          </a:xfrm>
          <a:prstGeom prst="ellipse">
            <a:avLst/>
          </a:prstGeom>
          <a:solidFill>
            <a:srgbClr val="1F2023"/>
          </a:solidFill>
          <a:ln w="19050">
            <a:solidFill>
              <a:srgbClr val="B8BD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0" y="2926080"/>
            <a:ext cx="256032" cy="256032"/>
          </a:xfrm>
          <a:prstGeom prst="ellipse">
            <a:avLst/>
          </a:prstGeom>
          <a:solidFill>
            <a:srgbClr val="1F2023"/>
          </a:solidFill>
          <a:ln w="19050">
            <a:solidFill>
              <a:srgbClr val="B8BD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3246120"/>
            <a:ext cx="7772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941832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(m)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(m/s)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vehicle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ahead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114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 and Vc  →  Fuzzy controller  →  Braking command B (0–100 %)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5120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B8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schematic only – not project evidence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can react late to a closing obstacle because of distraction, fatigue or misjudged gaps. Braking decisions are vague: “near” and “fast” have no sharp boundary, which suits fuzzy logic better than crisp thresholds.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inputs?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alone ignores how quickly the gap is closing; speed alone ignores how much gap remains. A 20 m gap is relaxed at 2 m/s closing but urgent at 20 m/s. Together they approximate time-to-collision (TTC ≈ D / Vc).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and 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IF–THEN rules capture driver-like judgement and output a braking command (0–100 %). Scope: educational PBL software simulation. It does not claim to prevent collisions or replace production ADAS.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D, Vc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64992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braking 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rules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97696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Mamdani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8997696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type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52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16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2 inputs and 1 output with ranges and units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2527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2161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9 triangular membership functions (3 per variable)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9842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47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9-rule Mamdani rule base (brief requires ≥ 6–8)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9842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1947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Hand-calculate one worked example (D = 20 m, Vc = 15 m/s)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157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679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Python with scikit-fuzzy; test ≥ 10 input pairs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2697480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27157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679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behaviour, limitations and improvements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(m), Vc (m/s)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21408" y="438912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50592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23744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values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23360" y="438912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52544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25696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(AND)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25312" y="438912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54496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27648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27264" y="438912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56448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defuzzification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729216" y="4389120"/>
            <a:ext cx="31089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058400" y="38404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31552" y="384048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command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(0–100 %)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029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– Mamdani FIS processing chain implemented in the simulation.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architecture only: no sensors, ECU, brake actuator or vehicle dynamics are modelled.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and Membership Functions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822960"/>
                <a:gridCol w="1188720"/>
                <a:gridCol w="5852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Terms and triangular MF [a, b, c]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 distance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[0,0,30]  ·  Medium [10,40,70]  ·  Far [50,100,100]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speed 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[0,0,10]  ·  Moderate [5,15,25]  ·  Fast [20,30,30]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Braking command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[0,0,40]  ·  Moderate [20,50,80]  ·  Hard [60,100,100]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mf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3566160" cy="254751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– Distance MFs</a:t>
            </a:r>
            <a:endParaRPr lang="en-US" sz="1100" dirty="0"/>
          </a:p>
        </p:txBody>
      </p:sp>
      <p:pic>
        <p:nvPicPr>
          <p:cNvPr id="6" name="Image 1" descr="mf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926080"/>
            <a:ext cx="3566160" cy="254751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29768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– Closing-speed MFs</a:t>
            </a:r>
            <a:endParaRPr lang="en-US" sz="1100" dirty="0"/>
          </a:p>
        </p:txBody>
      </p:sp>
      <p:pic>
        <p:nvPicPr>
          <p:cNvPr id="8" name="Image 2" descr="mf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926080"/>
            <a:ext cx="3566160" cy="2547518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046720" y="5532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– Braking-command MFs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Triangular MFs chosen for simplicity (Triangular / Trapezoidal / Gaussian allowed by brief). Edge-degenerate shapes suit a classroom demo; thresholds need engineering validation before real use.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Mamdani Fuzzy Inference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D and Vc → membership degrees μ in each linguistic term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Antecedents combined with AND = min; output set clipped at α (min implication)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output sets of all rules combined with max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97696" y="1188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057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Defuzzification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1945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of the aggregated set gives crisp braking command B*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6766560" cy="2651760"/>
          </a:xfrm>
          <a:prstGeom prst="roundRect">
            <a:avLst>
              <a:gd name="adj" fmla="val 2759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firing strength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840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αᵢ = min( μAᵢ(D), μBᵢ(Vc) )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26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defuzzification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46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B* = ∫ b · μagg(b) db  /  ∫ μagg(b) db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numerically on a 1 % grid (exact piecewise-linear centroid, as in scikit-fuzzy).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42900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 – firing strength of rule 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μAᵢ, μBᵢ – membership of D and Vc in rule i’s terms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μagg(b) – aggregated output membership at braking level 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B* – crisp braking command (%)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AND = min, implication = min, aggregation = max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Rule Base (9 Rules)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↓  /  Vc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Hard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Hard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 Light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C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 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6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 Hard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 Light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C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 Light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C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R9 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6B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2976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– Rule matrix: IF Distance is … AND Closing speed is … THEN Braking is 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2801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Nearer obstacle and higher closing speed → stronger braking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obstacle with low closing speed → light braking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+ Slow gives Moderate (not Hard): small closing rate leaves time to react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+ Fast gives Moderate: high speed warrants early action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demonstration rule base: it does not guarantee safe or optimal braking and must be validated against stopping-distance and vehicle-dynamics data before any real-world use.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D = 20 m, Vc = 15 m/s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Fuzzify D =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= (30−20)/(30−0) = 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= (20−10)/(40−10) = 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Fuzzify Vc =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= 0  ·  Moderate = 1 (peak)  ·  Fast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fired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R2: Near ∧ Moderate → Hard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α = min(0.333, 1) = 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R5: Medium ∧ Moderate → 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α = min(0.333, 1) = 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rules: α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of Hard clipped at 0.333 and Moderate clipped at 0.333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Defuzzify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 of aggregated set (executed model) = 62.4 %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ag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4754880" cy="271668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– Aggregated output set and centroid from the executed model.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6858000" y="4480560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04088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simple weighted average?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the label peaks (100 and 50) would give 75 %. The Mamdani centroid uses the full clipped shapes, so the true output is 62.4 %.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Implementation (scikit-fuzzy)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86400" cy="4160520"/>
          </a:xfrm>
          <a:prstGeom prst="rect">
            <a:avLst/>
          </a:prstGeom>
          <a:solidFill>
            <a:srgbClr val="1F2023"/>
          </a:solidFill>
          <a:ln w="12700">
            <a:solidFill>
              <a:srgbClr val="1F20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51206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skfuzzy as fuzz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skfuzzy import control as ctrl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 = ctrl.Antecedent(np.arange(0,101,1),'distance')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ctrl.Antecedent(np.arange(0,31,1),'closing_speed')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 = ctrl.Consequent(np.arange(0,101,1),'brake')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dist['Near']   = fuzz.trimf(dist.universe,[0,0,30])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dist['Medium'] = fuzz.trimf(dist.universe,[10,40,70])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dist['Far']    = fuzz.trimf(dist.universe,[50,100,100])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speed['Slow']     = fuzz.trimf(speed.universe,[0,0,10])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speed['Moderate'] = fuzz.trimf(speed.universe,[5,15,25])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speed['Fast']     = fuzz.trimf(speed.universe,[20,30,30])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brake['Light']    = fuzz.trimf(brake.universe,[0,0,40])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brake['Moderate'] = fuzz.trimf(brake.universe,[20,50,80])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brake['Hard']     = fuzz.trimf(brake.universe,[60,100,100])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0" y="1188720"/>
            <a:ext cx="5394960" cy="4160520"/>
          </a:xfrm>
          <a:prstGeom prst="rect">
            <a:avLst/>
          </a:prstGeom>
          <a:solidFill>
            <a:srgbClr val="1F2023"/>
          </a:solidFill>
          <a:ln w="12700">
            <a:solidFill>
              <a:srgbClr val="1F20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28016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ctrl.Rule(dist['Near']   &amp; speed['Slow'],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brake['Moderate']),            # R1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ctrl.Rule(dist['Near']   &amp; speed['Moderate'],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brake['Hard']),                # R2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... R3 - R8 as in rule table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ctrl.Rule(dist['Far']    &amp; speed['Fast'],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brake['Moderate']),            # R9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ctrl.ControlSystem(rules)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ctrl.ControlSystemSimulation(system)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sim.input['distance']     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sim.input['closing_speed'] = 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sim.compute()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print(sim.output['brake'])   # centroid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in scikit-fuzzy: AND = min, aggregation = max, Consequent defuzzification = centroid. Full file: abs_fuzzy_skfuzzy.py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note: scikit-fuzzy could not be installed in the build environment, so the numbers in this deck came from a NumPy re-implementation of the same operations (abs_numpy_check.py). Re-run the .py in your environment to confirm.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Interface and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 – not a working simulator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distance D (m)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A90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speed Vc (m/s)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A90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braking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command: [shown after compute]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MF and output plots</a:t>
            </a:r>
            <a:endParaRPr lang="en-US" sz="1200" dirty="0"/>
          </a:p>
        </p:txBody>
      </p:sp>
      <p:pic>
        <p:nvPicPr>
          <p:cNvPr id="15" name="Image 0" descr="su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3566160" cy="2480767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66344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– Braking surface (executed model)</a:t>
            </a:r>
            <a:endParaRPr lang="en-US" sz="1100" dirty="0"/>
          </a:p>
        </p:txBody>
      </p:sp>
      <p:pic>
        <p:nvPicPr>
          <p:cNvPr id="17" name="Image 1" descr="a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188720"/>
            <a:ext cx="3200400" cy="18288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1248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– Output set, D=20, Vc=15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41605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genuine plots show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stays within 13.3–86.7 % over the whole input grid: centroids of clipped triangles never reach 0 % or 100 %.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 rises smoothly toward short distance and high closing speed.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status (Phase 6): [pending – insert real Jupyter / Tkinter / Streamlit screenshot here]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 (10 Input Combinations)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777240"/>
                <a:gridCol w="1188720"/>
                <a:gridCol w="86868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(m/s)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+ Fast: Hard, clipped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Near, partly Moderate: 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Near/Slow vs Medium/Slow 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Moderate–Hard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 example: Moderate–Hard blend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+ Slow: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+ Moderate: peak of 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+ Fast: 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+ Slow: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+ Moderate: Light (same as T08)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+ Fast: 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8138160" y="1188720"/>
          <a:ext cx="3474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lie within 0–100 % and follow the rule base. T08 = T09 because Far gives α = 0.4 in both; the Light set is clipped identically. “Expected” is qualitative; outputs are computed (NumPy equivalent; see slide 8).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Analysis, Limitations and 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IF–THEN rules close to human reasoning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transitions, no abrupt threshold jumps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tune and extend with more inputs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observed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9-rule base; edge-degenerate MFs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limited to 13.3–86.7 % (centroid effect)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Far/Slow and Far/Moderate give identical output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sensor noise in D and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modelled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69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distance, road friction, tyre grip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mass, actuator delay, brake dynamics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intent, road and weather conditions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06908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time-to-collision and acceleration inputs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a physics-based vehicle model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PID or tune MFs with a genetic algorithm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noise-filtering and a real simulator UI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89788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2B2D31"/>
          </a:solidFill>
          <a:ln w="12700">
            <a:solidFill>
              <a:srgbClr val="2B2D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educational simulation – not ready for installation in a real vehicle.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Status and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9-rule Mamdani FIS maps distance and closing speed to a braking command that rises with urgency across 10 test cases.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(D=20, Vc=15) gives 62.4 %, between Moderate and Hard as expected.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Unvalidated: real stopping distances, vehicle dynamics, sensor noise, safety certification.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[Status to be updated]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abs_fuzzy_skfuzzy.py (run to confirm)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repository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[URL]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325880"/>
            <a:ext cx="5120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L.D. College of Engineering, “PBL: Design and Development of a Fuzzy Controller for Real-World Engineering Problem,” BE05000461, course brief, 2026.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scikit-fuzzy developers, “scikit-fuzzy documentation.” https://scikit-fuzzy.github.io/scikit-fuzzy/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A. Zadeh, “Fuzzy sets,” Information and Control, vol. 8, no. 3, pp. 338–353, 1965.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E. H. Mamdani and S. Assilian, “An experiment in linguistic synthesis with a fuzzy logic controller,” Int. J. Man-Machine Studies, vol. 7, no. 1, pp. 1–13, 1975.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T. J. Ross, Fuzzy Logic with Engineering Applications, 4th ed. Chichester, U.K.: Wiley, 2016.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DCE ABS">
  <a:themeElements>
    <a:clrScheme name="LDCE ABS">
      <a:dk1>
        <a:srgbClr val="2B2D31"/>
      </a:dk1>
      <a:lt1>
        <a:srgbClr val="FFFFFF"/>
      </a:lt1>
      <a:dk2>
        <a:srgbClr val="4B4F58"/>
      </a:dk2>
      <a:lt2>
        <a:srgbClr val="F3F4F6"/>
      </a:lt2>
      <a:accent1>
        <a:srgbClr val="C8102E"/>
      </a:accent1>
      <a:accent2>
        <a:srgbClr val="6B7280"/>
      </a:accent2>
      <a:accent3>
        <a:srgbClr val="8A9099"/>
      </a:accent3>
      <a:accent4>
        <a:srgbClr val="D9DCE0"/>
      </a:accent4>
      <a:accent5>
        <a:srgbClr val="F2A6B0"/>
      </a:accent5>
      <a:accent6>
        <a:srgbClr val="1F2023"/>
      </a:accent6>
      <a:hlink>
        <a:srgbClr val="C8102E"/>
      </a:hlink>
      <a:folHlink>
        <a:srgbClr val="6B7280"/>
      </a:folHlink>
    </a:clrScheme>
    <a:fontScheme name="LDCE AB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Logic-Based Automatic Braking System</dc:title>
  <dc:subject>PptxGenJS Presentation</dc:subject>
  <dc:creator>Darshan K. Prajapati, Parth S. Parmar</dc:creator>
  <cp:lastModifiedBy>Darshan K. Prajapati, Parth S. Parmar</cp:lastModifiedBy>
  <cp:revision>1</cp:revision>
  <dcterms:created xsi:type="dcterms:W3CDTF">2026-10-10T13:46:01Z</dcterms:created>
  <dcterms:modified xsi:type="dcterms:W3CDTF">2026-10-10T13:46:01Z</dcterms:modified>
</cp:coreProperties>
</file>